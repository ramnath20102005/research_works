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43" r:id="rId3"/>
    <p:sldId id="363" r:id="rId4"/>
    <p:sldId id="364" r:id="rId5"/>
    <p:sldId id="352" r:id="rId6"/>
    <p:sldId id="345" r:id="rId7"/>
    <p:sldId id="361" r:id="rId8"/>
    <p:sldId id="360" r:id="rId9"/>
    <p:sldId id="367" r:id="rId10"/>
    <p:sldId id="368" r:id="rId11"/>
    <p:sldId id="369" r:id="rId12"/>
    <p:sldId id="370" r:id="rId13"/>
    <p:sldId id="371" r:id="rId14"/>
    <p:sldId id="372" r:id="rId15"/>
    <p:sldId id="365" r:id="rId16"/>
    <p:sldId id="366" r:id="rId17"/>
    <p:sldId id="351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1BEC2-0D41-430F-BF53-BEBB1D9F8904}" v="1" dt="2026-06-24T14:28:20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CA920FF5-84A3-D21C-3594-613A0A86852A}"/>
              </a:ext>
            </a:extLst>
          </p:cNvPr>
          <p:cNvSpPr txBox="1"/>
          <p:nvPr/>
        </p:nvSpPr>
        <p:spPr>
          <a:xfrm>
            <a:off x="1324947" y="2674600"/>
            <a:ext cx="7072604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A MULTIMODAL ADAPTIVE AI INTERVIEW SYSTEM USING TABULAR FOUNDATION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768FC-97D5-5421-58A1-35BC1107F6A5}"/>
              </a:ext>
            </a:extLst>
          </p:cNvPr>
          <p:cNvSpPr txBox="1"/>
          <p:nvPr/>
        </p:nvSpPr>
        <p:spPr>
          <a:xfrm>
            <a:off x="905070" y="4286177"/>
            <a:ext cx="3806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23CSR137 MOUNISH C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23CSR172 RAMNATH BASKAR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23CSR176 RITHAN AK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C992-19B2-6D63-7DC0-A2A6DE92A61C}"/>
              </a:ext>
            </a:extLst>
          </p:cNvPr>
          <p:cNvSpPr txBox="1"/>
          <p:nvPr/>
        </p:nvSpPr>
        <p:spPr>
          <a:xfrm>
            <a:off x="6245290" y="4761722"/>
            <a:ext cx="281473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Mr.N.P.Saravanan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4CB5E-8FAE-7EB9-ED1C-17F0E7924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561" y="253840"/>
            <a:ext cx="6627302" cy="1484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CF70-0D9A-4CE9-AD66-81529966C02A}"/>
              </a:ext>
            </a:extLst>
          </p:cNvPr>
          <p:cNvSpPr txBox="1"/>
          <p:nvPr/>
        </p:nvSpPr>
        <p:spPr>
          <a:xfrm>
            <a:off x="112589" y="7448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9E6F7-0BD0-3E73-B2BA-B362DBC1D785}"/>
              </a:ext>
            </a:extLst>
          </p:cNvPr>
          <p:cNvSpPr txBox="1"/>
          <p:nvPr/>
        </p:nvSpPr>
        <p:spPr>
          <a:xfrm>
            <a:off x="958149" y="1144923"/>
            <a:ext cx="8185851" cy="300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interviews lack personalized, adaptive questioning.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Resume, answer, behaviour, and context are rarely combined for interview policy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generate questions but lack a structured policy-decision layer.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features are rarely used to predict the next interview 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explores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TabPFN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next interview-policy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clear separation between policy decision-making and question generation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A98BE-A002-B319-7A9C-AD4A89EB3CDA}"/>
              </a:ext>
            </a:extLst>
          </p:cNvPr>
          <p:cNvSpPr txBox="1"/>
          <p:nvPr/>
        </p:nvSpPr>
        <p:spPr>
          <a:xfrm>
            <a:off x="719051" y="3497484"/>
            <a:ext cx="5536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736A3-272E-3785-C1B4-194C643E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873" y="3852481"/>
            <a:ext cx="7772401" cy="2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multimodal adaptive AI interview system for personalized questioning.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resume-based candidate skills, education, projects, and experience.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answers using correctness, coverage, reasoning, and missing concepts.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behaviour using engagement, confidence, hesitation, and eye contact.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TabPFN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the optimal next interview policy.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Local LLM to generate questions based on the predicted policy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personalized final interview report with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59912"/>
              </p:ext>
            </p:extLst>
          </p:nvPr>
        </p:nvGraphicFramePr>
        <p:xfrm>
          <a:off x="1082351" y="1077824"/>
          <a:ext cx="7908310" cy="538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80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Interview Strategy Based on Interviewees Speaking Willingness Recognition for Interview Robots</a:t>
                      </a:r>
                      <a:br>
                        <a:rPr lang="en-IN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multimodal audio-visual features to recognize the interviewee’s speaking willingness and adaptively select the next question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consider resume information candidate skills answer quality or knowledge gaps for question selection.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23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Fairness-Aware Multimodal Learning in Automatic video Interview Assessment (2023)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multimodal learning to assess interviews while improving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assessment not adaptive question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5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MAG-BERT-ARL for Fair Automated Video Interview Assessment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MAG-BERT and ARL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fair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multimodel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interview assessment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predict next  interview policy or generate adaptive questions.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4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924029"/>
              </p:ext>
            </p:extLst>
          </p:nvPr>
        </p:nvGraphicFramePr>
        <p:xfrm>
          <a:off x="1114741" y="675851"/>
          <a:ext cx="7832787" cy="5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9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Skill-oriented question Generation and Recommendation  for Intelligent Job Interviews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skill-based interview questions using skill extraction, neural generation, and recommendation.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use resume-based profiling, multimodal performance features, or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TabPFN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next interview-policy prediction.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8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ered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Interview Preparation System: Integrating Resume Analysis, HR Simulation, and Technical Skill Assessment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resume analysis, HR simulation, technical assessment, speech recognition, and CNN-based emotion detection to evaluate candidates and provide performance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use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TabPFN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predict the next interview policy or a Policy → LLM → Adaptive Question architecture.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1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Adaptive Question Crafting with Accuracy Feedback enabled by Machine Learning and Artificial Intelligence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an AI-based interview framework that uses NLP/ML to evaluate candidate responses and dynamically adjust question difficulty and topic focus, generating contextual follow-up questions in real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resume profiling, a structured multimodal feature vector, and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TabPFN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policy prediction followed by policy-guided LLM question generation.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EA324DD-DAF5-34A5-3534-1EA2EDCFE610}"/>
              </a:ext>
            </a:extLst>
          </p:cNvPr>
          <p:cNvSpPr/>
          <p:nvPr/>
        </p:nvSpPr>
        <p:spPr>
          <a:xfrm>
            <a:off x="3436081" y="208829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19248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2AEB1-7170-6C3C-A575-749A72E74931}"/>
              </a:ext>
            </a:extLst>
          </p:cNvPr>
          <p:cNvSpPr txBox="1"/>
          <p:nvPr/>
        </p:nvSpPr>
        <p:spPr>
          <a:xfrm>
            <a:off x="2215838" y="1111255"/>
            <a:ext cx="5369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578635" y="1777538"/>
            <a:ext cx="7565365" cy="3464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studying previous research, the following gaps were identified: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question sequences limit personalization and adaptability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systems lack a dedicated interview policy-decision layer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separation between policy decision-making and question generation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adapt only question difficulty, not multiple interview actions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semantic, behavioural, and contextual features together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lightweight, explainable, and efficient detection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553A0-C8DD-83DB-CD39-51D3BD8D441D}"/>
              </a:ext>
            </a:extLst>
          </p:cNvPr>
          <p:cNvSpPr txBox="1"/>
          <p:nvPr/>
        </p:nvSpPr>
        <p:spPr>
          <a:xfrm>
            <a:off x="1007707" y="1166327"/>
            <a:ext cx="1502229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Resume Input PDF/DOCX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6C228-8686-05A9-C732-824790DCD340}"/>
              </a:ext>
            </a:extLst>
          </p:cNvPr>
          <p:cNvSpPr txBox="1"/>
          <p:nvPr/>
        </p:nvSpPr>
        <p:spPr>
          <a:xfrm>
            <a:off x="1007705" y="2463282"/>
            <a:ext cx="1502229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Intelligence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29510-4AB1-8B06-EBB9-C1E3B4D95432}"/>
              </a:ext>
            </a:extLst>
          </p:cNvPr>
          <p:cNvSpPr txBox="1"/>
          <p:nvPr/>
        </p:nvSpPr>
        <p:spPr>
          <a:xfrm>
            <a:off x="1007705" y="3760237"/>
            <a:ext cx="1502229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Question Generation Local 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58294-485F-6AF1-170D-384297AD86CC}"/>
              </a:ext>
            </a:extLst>
          </p:cNvPr>
          <p:cNvSpPr txBox="1"/>
          <p:nvPr/>
        </p:nvSpPr>
        <p:spPr>
          <a:xfrm>
            <a:off x="1007704" y="5029086"/>
            <a:ext cx="150222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To 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845A3-2776-2226-8234-970F6D1287DC}"/>
              </a:ext>
            </a:extLst>
          </p:cNvPr>
          <p:cNvSpPr txBox="1"/>
          <p:nvPr/>
        </p:nvSpPr>
        <p:spPr>
          <a:xfrm>
            <a:off x="5203373" y="923731"/>
            <a:ext cx="1502229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Response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Video+Audio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D712D-4D95-ABD7-5AD9-A7BC43862D78}"/>
              </a:ext>
            </a:extLst>
          </p:cNvPr>
          <p:cNvSpPr txBox="1"/>
          <p:nvPr/>
        </p:nvSpPr>
        <p:spPr>
          <a:xfrm>
            <a:off x="3433666" y="1991313"/>
            <a:ext cx="150222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7B06B-DF6C-EC53-C506-9355268CE10B}"/>
              </a:ext>
            </a:extLst>
          </p:cNvPr>
          <p:cNvSpPr txBox="1"/>
          <p:nvPr/>
        </p:nvSpPr>
        <p:spPr>
          <a:xfrm>
            <a:off x="5203373" y="1991313"/>
            <a:ext cx="150222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D3B5E4-56BD-9588-C5E9-CD65EB122720}"/>
              </a:ext>
            </a:extLst>
          </p:cNvPr>
          <p:cNvSpPr txBox="1"/>
          <p:nvPr/>
        </p:nvSpPr>
        <p:spPr>
          <a:xfrm>
            <a:off x="6969972" y="1991313"/>
            <a:ext cx="1502229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695A1-3C8A-961B-FE0B-EB21ACDF957E}"/>
              </a:ext>
            </a:extLst>
          </p:cNvPr>
          <p:cNvSpPr txBox="1"/>
          <p:nvPr/>
        </p:nvSpPr>
        <p:spPr>
          <a:xfrm>
            <a:off x="5071187" y="2837699"/>
            <a:ext cx="1766599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Construction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38EDC-C577-E241-8242-951A9B2EC39C}"/>
              </a:ext>
            </a:extLst>
          </p:cNvPr>
          <p:cNvSpPr txBox="1"/>
          <p:nvPr/>
        </p:nvSpPr>
        <p:spPr>
          <a:xfrm>
            <a:off x="4991878" y="3657600"/>
            <a:ext cx="1925216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Tabpfn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 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544DF9-6DE9-4BFD-E625-D2F717DFC51D}"/>
              </a:ext>
            </a:extLst>
          </p:cNvPr>
          <p:cNvSpPr txBox="1"/>
          <p:nvPr/>
        </p:nvSpPr>
        <p:spPr>
          <a:xfrm>
            <a:off x="4898572" y="4396264"/>
            <a:ext cx="2111828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Policy-guided Question Generation – Local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2D980C-B899-76A6-779C-B01F63BFE067}"/>
              </a:ext>
            </a:extLst>
          </p:cNvPr>
          <p:cNvSpPr txBox="1"/>
          <p:nvPr/>
        </p:nvSpPr>
        <p:spPr>
          <a:xfrm>
            <a:off x="3103986" y="6082031"/>
            <a:ext cx="1502229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Report Module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113C1A99-BE8F-0DED-A3D6-C7991285727E}"/>
              </a:ext>
            </a:extLst>
          </p:cNvPr>
          <p:cNvSpPr/>
          <p:nvPr/>
        </p:nvSpPr>
        <p:spPr>
          <a:xfrm>
            <a:off x="5265577" y="5350371"/>
            <a:ext cx="1502229" cy="982214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B69ABC-358C-C315-EFE1-CBEB0AB53C9B}"/>
              </a:ext>
            </a:extLst>
          </p:cNvPr>
          <p:cNvSpPr txBox="1"/>
          <p:nvPr/>
        </p:nvSpPr>
        <p:spPr>
          <a:xfrm>
            <a:off x="5528389" y="5539331"/>
            <a:ext cx="1309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Completed?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A325F3-5213-F7D6-8E68-FAD31CEF5905}"/>
              </a:ext>
            </a:extLst>
          </p:cNvPr>
          <p:cNvSpPr txBox="1"/>
          <p:nvPr/>
        </p:nvSpPr>
        <p:spPr>
          <a:xfrm>
            <a:off x="7427168" y="6062551"/>
            <a:ext cx="1595535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Interview..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45F169-285D-F82B-46E8-BCC8FC84BF1D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1758820" y="1904991"/>
            <a:ext cx="2" cy="5582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74ACD5-8FCD-86D7-81B5-2EBA4A14DB80}"/>
              </a:ext>
            </a:extLst>
          </p:cNvPr>
          <p:cNvCxnSpPr/>
          <p:nvPr/>
        </p:nvCxnSpPr>
        <p:spPr>
          <a:xfrm flipH="1">
            <a:off x="1758816" y="3215942"/>
            <a:ext cx="2" cy="5582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524E5D-4EB5-0A22-32C3-B69F52C60F68}"/>
              </a:ext>
            </a:extLst>
          </p:cNvPr>
          <p:cNvCxnSpPr/>
          <p:nvPr/>
        </p:nvCxnSpPr>
        <p:spPr>
          <a:xfrm flipH="1">
            <a:off x="1758814" y="4509004"/>
            <a:ext cx="2" cy="5582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6260D18-7D3C-10F6-6609-062128012D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0426" y="2336415"/>
            <a:ext cx="4655728" cy="1345167"/>
          </a:xfrm>
          <a:prstGeom prst="bentConnector3">
            <a:avLst>
              <a:gd name="adj1" fmla="val -13127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CEEC831-325B-0011-6551-DE308E62436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100874" y="681134"/>
            <a:ext cx="2853614" cy="24259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23FF7C-B9B4-273D-A84E-3FEABD946D76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5954488" y="1662395"/>
            <a:ext cx="0" cy="328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46FBB74-883A-C06F-6D77-703AA7E0AEFA}"/>
              </a:ext>
            </a:extLst>
          </p:cNvPr>
          <p:cNvCxnSpPr>
            <a:stCxn id="11" idx="1"/>
            <a:endCxn id="13" idx="0"/>
          </p:cNvCxnSpPr>
          <p:nvPr/>
        </p:nvCxnSpPr>
        <p:spPr>
          <a:xfrm rot="10800000" flipV="1">
            <a:off x="4184781" y="1293063"/>
            <a:ext cx="1018592" cy="69825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F14ABC5-F74D-8F84-16E7-B53B8BA79F25}"/>
              </a:ext>
            </a:extLst>
          </p:cNvPr>
          <p:cNvCxnSpPr>
            <a:stCxn id="11" idx="3"/>
            <a:endCxn id="15" idx="0"/>
          </p:cNvCxnSpPr>
          <p:nvPr/>
        </p:nvCxnSpPr>
        <p:spPr>
          <a:xfrm>
            <a:off x="6705602" y="1293063"/>
            <a:ext cx="1015485" cy="69825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81A7AF-7D71-87C0-C475-44FED9E6AD8F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954484" y="2299090"/>
            <a:ext cx="4" cy="5477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E140518-E52E-639A-5576-E794EC5F50BC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5954486" y="3360919"/>
            <a:ext cx="1" cy="2966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5F151D-952F-8944-1862-5A55BEF7E692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954486" y="3965377"/>
            <a:ext cx="0" cy="430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F57CF3-2735-21BF-5672-D0E563349D5D}"/>
              </a:ext>
            </a:extLst>
          </p:cNvPr>
          <p:cNvCxnSpPr>
            <a:cxnSpLocks/>
          </p:cNvCxnSpPr>
          <p:nvPr/>
        </p:nvCxnSpPr>
        <p:spPr>
          <a:xfrm>
            <a:off x="6016691" y="4905976"/>
            <a:ext cx="0" cy="430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282D4EA-3125-EE5C-09D7-1C49A1369999}"/>
              </a:ext>
            </a:extLst>
          </p:cNvPr>
          <p:cNvCxnSpPr>
            <a:stCxn id="21" idx="1"/>
            <a:endCxn id="20" idx="0"/>
          </p:cNvCxnSpPr>
          <p:nvPr/>
        </p:nvCxnSpPr>
        <p:spPr>
          <a:xfrm rot="10800000" flipV="1">
            <a:off x="3855101" y="5841477"/>
            <a:ext cx="1410476" cy="24055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D309DF4-8313-9B21-B7DF-F702217463D4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705602" y="5800941"/>
            <a:ext cx="1519334" cy="26161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9" name="Picture 58" descr="Pdf - Free files and folders icons">
            <a:extLst>
              <a:ext uri="{FF2B5EF4-FFF2-40B4-BE49-F238E27FC236}">
                <a16:creationId xmlns:a16="http://schemas.microsoft.com/office/drawing/2014/main" id="{E2BA4A07-354C-412B-D1E4-7F70F7066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431" y="1662395"/>
            <a:ext cx="181859" cy="181859"/>
          </a:xfrm>
          <a:prstGeom prst="rect">
            <a:avLst/>
          </a:prstGeom>
        </p:spPr>
      </p:pic>
      <p:pic>
        <p:nvPicPr>
          <p:cNvPr id="60" name="Picture 59" descr="Parsing - Free files and folders icons">
            <a:extLst>
              <a:ext uri="{FF2B5EF4-FFF2-40B4-BE49-F238E27FC236}">
                <a16:creationId xmlns:a16="http://schemas.microsoft.com/office/drawing/2014/main" id="{9B0BC737-6215-80EC-2506-09EAC054A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431" y="2922275"/>
            <a:ext cx="198859" cy="198859"/>
          </a:xfrm>
          <a:prstGeom prst="rect">
            <a:avLst/>
          </a:prstGeom>
        </p:spPr>
      </p:pic>
      <p:pic>
        <p:nvPicPr>
          <p:cNvPr id="61" name="Picture 60" descr="Question - Free education icons">
            <a:extLst>
              <a:ext uri="{FF2B5EF4-FFF2-40B4-BE49-F238E27FC236}">
                <a16:creationId xmlns:a16="http://schemas.microsoft.com/office/drawing/2014/main" id="{9D059372-D76E-21C4-03FE-097D1123F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509" y="4240599"/>
            <a:ext cx="234781" cy="234781"/>
          </a:xfrm>
          <a:prstGeom prst="rect">
            <a:avLst/>
          </a:prstGeom>
        </p:spPr>
      </p:pic>
      <p:pic>
        <p:nvPicPr>
          <p:cNvPr id="62" name="Picture 61" descr="Question - Free user icons">
            <a:extLst>
              <a:ext uri="{FF2B5EF4-FFF2-40B4-BE49-F238E27FC236}">
                <a16:creationId xmlns:a16="http://schemas.microsoft.com/office/drawing/2014/main" id="{DE2EE143-2E81-D2A0-7B3B-C822A962D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6632" y="5350371"/>
            <a:ext cx="558291" cy="543522"/>
          </a:xfrm>
          <a:prstGeom prst="rect">
            <a:avLst/>
          </a:prstGeom>
        </p:spPr>
      </p:pic>
      <p:pic>
        <p:nvPicPr>
          <p:cNvPr id="64" name="Picture 63" descr="Speaking - Free people icons">
            <a:extLst>
              <a:ext uri="{FF2B5EF4-FFF2-40B4-BE49-F238E27FC236}">
                <a16:creationId xmlns:a16="http://schemas.microsoft.com/office/drawing/2014/main" id="{957CC429-E1FA-8970-2148-818E0E074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782" y="888938"/>
            <a:ext cx="438918" cy="438918"/>
          </a:xfrm>
          <a:prstGeom prst="rect">
            <a:avLst/>
          </a:prstGeom>
        </p:spPr>
      </p:pic>
      <p:pic>
        <p:nvPicPr>
          <p:cNvPr id="65" name="Picture 64" descr="Semantic - Free arrows icons">
            <a:extLst>
              <a:ext uri="{FF2B5EF4-FFF2-40B4-BE49-F238E27FC236}">
                <a16:creationId xmlns:a16="http://schemas.microsoft.com/office/drawing/2014/main" id="{32927C83-D028-571F-BAFD-F4C5D317C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900" y="1991312"/>
            <a:ext cx="307777" cy="307777"/>
          </a:xfrm>
          <a:prstGeom prst="rect">
            <a:avLst/>
          </a:prstGeom>
        </p:spPr>
      </p:pic>
      <p:pic>
        <p:nvPicPr>
          <p:cNvPr id="66" name="Picture 65" descr="Behavior - Free user icons">
            <a:extLst>
              <a:ext uri="{FF2B5EF4-FFF2-40B4-BE49-F238E27FC236}">
                <a16:creationId xmlns:a16="http://schemas.microsoft.com/office/drawing/2014/main" id="{B9053132-0A93-8B68-8787-424294B58B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6905" y="1887886"/>
            <a:ext cx="444489" cy="444489"/>
          </a:xfrm>
          <a:prstGeom prst="rect">
            <a:avLst/>
          </a:prstGeom>
        </p:spPr>
      </p:pic>
      <p:pic>
        <p:nvPicPr>
          <p:cNvPr id="67" name="Picture 66" descr="Context - Free marketing icons">
            <a:extLst>
              <a:ext uri="{FF2B5EF4-FFF2-40B4-BE49-F238E27FC236}">
                <a16:creationId xmlns:a16="http://schemas.microsoft.com/office/drawing/2014/main" id="{E305EDB7-A630-1D76-3DE5-5C86222D4D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4935" y="1933937"/>
            <a:ext cx="377585" cy="377585"/>
          </a:xfrm>
          <a:prstGeom prst="rect">
            <a:avLst/>
          </a:prstGeom>
        </p:spPr>
      </p:pic>
      <p:pic>
        <p:nvPicPr>
          <p:cNvPr id="68" name="Picture 67" descr="Table - Free web icons">
            <a:extLst>
              <a:ext uri="{FF2B5EF4-FFF2-40B4-BE49-F238E27FC236}">
                <a16:creationId xmlns:a16="http://schemas.microsoft.com/office/drawing/2014/main" id="{2F1B73C8-6B14-2650-42DF-688E1D96F5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6164" y="2729977"/>
            <a:ext cx="345917" cy="345917"/>
          </a:xfrm>
          <a:prstGeom prst="rect">
            <a:avLst/>
          </a:prstGeom>
        </p:spPr>
      </p:pic>
      <p:pic>
        <p:nvPicPr>
          <p:cNvPr id="69" name="Picture 68" descr="Png File - Model Icon - Free Transparent PNG Download - PNGkey">
            <a:extLst>
              <a:ext uri="{FF2B5EF4-FFF2-40B4-BE49-F238E27FC236}">
                <a16:creationId xmlns:a16="http://schemas.microsoft.com/office/drawing/2014/main" id="{EAA72B6B-176F-E69F-6BCA-D8C22AC22B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7786" y="3562482"/>
            <a:ext cx="413878" cy="430887"/>
          </a:xfrm>
          <a:prstGeom prst="rect">
            <a:avLst/>
          </a:prstGeom>
        </p:spPr>
      </p:pic>
      <p:pic>
        <p:nvPicPr>
          <p:cNvPr id="71" name="Picture 70" descr="Qwen Logo PNG Vector (SVG) Free Download">
            <a:extLst>
              <a:ext uri="{FF2B5EF4-FFF2-40B4-BE49-F238E27FC236}">
                <a16:creationId xmlns:a16="http://schemas.microsoft.com/office/drawing/2014/main" id="{71C73F67-0FBD-C089-7BC8-0195D195C9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8640" y="4333888"/>
            <a:ext cx="598613" cy="598613"/>
          </a:xfrm>
          <a:prstGeom prst="rect">
            <a:avLst/>
          </a:prstGeom>
        </p:spPr>
      </p:pic>
      <p:pic>
        <p:nvPicPr>
          <p:cNvPr id="72" name="Picture 71" descr="Yes - Free communications icons">
            <a:extLst>
              <a:ext uri="{FF2B5EF4-FFF2-40B4-BE49-F238E27FC236}">
                <a16:creationId xmlns:a16="http://schemas.microsoft.com/office/drawing/2014/main" id="{E86128C6-6529-9FE8-770D-58DB45CCDD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1547" y="5433340"/>
            <a:ext cx="377583" cy="377583"/>
          </a:xfrm>
          <a:prstGeom prst="rect">
            <a:avLst/>
          </a:prstGeom>
        </p:spPr>
      </p:pic>
      <p:pic>
        <p:nvPicPr>
          <p:cNvPr id="73" name="Picture 72" descr="No Message Icon SVG Vector &amp; PNG Free Download | UXWing">
            <a:extLst>
              <a:ext uri="{FF2B5EF4-FFF2-40B4-BE49-F238E27FC236}">
                <a16:creationId xmlns:a16="http://schemas.microsoft.com/office/drawing/2014/main" id="{5BDF3945-4EDF-2A79-1DD4-AE949AAFA3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0598" y="5433340"/>
            <a:ext cx="406655" cy="323766"/>
          </a:xfrm>
          <a:prstGeom prst="rect">
            <a:avLst/>
          </a:prstGeom>
        </p:spPr>
      </p:pic>
      <p:pic>
        <p:nvPicPr>
          <p:cNvPr id="74" name="Picture 73" descr="Report icon with pen and paper on blue background 69531137 Vector Art at Vecteezy">
            <a:extLst>
              <a:ext uri="{FF2B5EF4-FFF2-40B4-BE49-F238E27FC236}">
                <a16:creationId xmlns:a16="http://schemas.microsoft.com/office/drawing/2014/main" id="{77BBF53C-FC6B-AE22-D491-FEC54EF923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3252" y="6442312"/>
            <a:ext cx="325878" cy="32587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595B211-9EA4-BE13-14D1-69B56FA713BB}"/>
              </a:ext>
            </a:extLst>
          </p:cNvPr>
          <p:cNvSpPr txBox="1"/>
          <p:nvPr/>
        </p:nvSpPr>
        <p:spPr>
          <a:xfrm>
            <a:off x="2210509" y="84815"/>
            <a:ext cx="5369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2;p15">
            <a:extLst>
              <a:ext uri="{FF2B5EF4-FFF2-40B4-BE49-F238E27FC236}">
                <a16:creationId xmlns:a16="http://schemas.microsoft.com/office/drawing/2014/main" id="{B8EC2835-B2ED-4B98-D306-BB0E9553F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496" y="1049296"/>
            <a:ext cx="788436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103;p15">
            <a:extLst>
              <a:ext uri="{FF2B5EF4-FFF2-40B4-BE49-F238E27FC236}">
                <a16:creationId xmlns:a16="http://schemas.microsoft.com/office/drawing/2014/main" id="{A23DBDE0-CF29-54FE-328E-5A23617C3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2567784"/>
            <a:ext cx="5197128" cy="262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Resume-Based Candidate Profiling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Interview Question Generation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Answer Evaluation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Feature Vector Construction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Interview Report Generation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4D11C-5299-72D4-7169-94CB10D385CB}"/>
              </a:ext>
            </a:extLst>
          </p:cNvPr>
          <p:cNvSpPr txBox="1"/>
          <p:nvPr/>
        </p:nvSpPr>
        <p:spPr>
          <a:xfrm>
            <a:off x="1005840" y="2131167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5BE8E-5D55-E1EF-E74D-4FF7F199AF67}"/>
              </a:ext>
            </a:extLst>
          </p:cNvPr>
          <p:cNvSpPr txBox="1"/>
          <p:nvPr/>
        </p:nvSpPr>
        <p:spPr>
          <a:xfrm>
            <a:off x="5256703" y="2131167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  <p:sp>
        <p:nvSpPr>
          <p:cNvPr id="13" name="Google Shape;103;p15">
            <a:extLst>
              <a:ext uri="{FF2B5EF4-FFF2-40B4-BE49-F238E27FC236}">
                <a16:creationId xmlns:a16="http://schemas.microsoft.com/office/drawing/2014/main" id="{4A7770A4-4770-9780-86F0-C726920F2502}"/>
              </a:ext>
            </a:extLst>
          </p:cNvPr>
          <p:cNvSpPr txBox="1">
            <a:spLocks/>
          </p:cNvSpPr>
          <p:nvPr/>
        </p:nvSpPr>
        <p:spPr>
          <a:xfrm>
            <a:off x="4683967" y="2531277"/>
            <a:ext cx="5001209" cy="27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TabPFN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Policy Prediction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Policy–Question Separation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11-Feature Interview Vector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Policy-Guided Questions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 Integration</a:t>
            </a:r>
          </a:p>
          <a:p>
            <a:pPr lvl="1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Performance Report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Noto Sans Symbols"/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61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1222" y="704441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2527" y="1680860"/>
            <a:ext cx="5002306" cy="367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Intelligence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Question Generation Module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 Extraction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State &amp; Dataset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Interview Policy Module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Report Module</a:t>
            </a: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D66243-0C0D-101B-5A51-FB5CF2D76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2439791"/>
            <a:ext cx="8537510" cy="44182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360E83-0B32-26C6-7A38-C06E82536072}"/>
              </a:ext>
            </a:extLst>
          </p:cNvPr>
          <p:cNvSpPr/>
          <p:nvPr/>
        </p:nvSpPr>
        <p:spPr>
          <a:xfrm>
            <a:off x="3999960" y="195942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A198F-22B8-69A0-9330-10CF19BBD3A1}"/>
              </a:ext>
            </a:extLst>
          </p:cNvPr>
          <p:cNvSpPr txBox="1"/>
          <p:nvPr/>
        </p:nvSpPr>
        <p:spPr>
          <a:xfrm>
            <a:off x="886408" y="1035698"/>
            <a:ext cx="3862874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Multimodal Adaptive Interview Dataset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Custom-Created Synthetic Dataset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1,00,000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Features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85CA7A-219F-F8D6-99E1-07F7B9970CE1}"/>
              </a:ext>
            </a:extLst>
          </p:cNvPr>
          <p:cNvSpPr/>
          <p:nvPr/>
        </p:nvSpPr>
        <p:spPr>
          <a:xfrm>
            <a:off x="3664058" y="223934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8B7D8-FB92-F3BB-3393-4B7F41946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6" y="1258551"/>
            <a:ext cx="8229601" cy="43408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8122CB-AFA7-482C-EED2-6BB3FCC4ECC0}"/>
              </a:ext>
            </a:extLst>
          </p:cNvPr>
          <p:cNvSpPr/>
          <p:nvPr/>
        </p:nvSpPr>
        <p:spPr>
          <a:xfrm>
            <a:off x="718456" y="871870"/>
            <a:ext cx="13516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ResumeUpload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79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4A13BC-6CE7-E2F9-748C-C9BAEF713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1236847"/>
            <a:ext cx="8304246" cy="41282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BED0A1-173E-5CE8-9003-EBC423B969F4}"/>
              </a:ext>
            </a:extLst>
          </p:cNvPr>
          <p:cNvSpPr/>
          <p:nvPr/>
        </p:nvSpPr>
        <p:spPr>
          <a:xfrm>
            <a:off x="718456" y="871870"/>
            <a:ext cx="18389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Resume</a:t>
            </a:r>
          </a:p>
        </p:txBody>
      </p:sp>
    </p:spTree>
    <p:extLst>
      <p:ext uri="{BB962C8B-B14F-4D97-AF65-F5344CB8AC3E}">
        <p14:creationId xmlns:p14="http://schemas.microsoft.com/office/powerpoint/2010/main" val="276455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CE1F80-E4D9-6B0B-367E-AEBEC7FFF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88" y="1256168"/>
            <a:ext cx="8201608" cy="40996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49FEBF-806D-0C29-1104-2F94357FA243}"/>
              </a:ext>
            </a:extLst>
          </p:cNvPr>
          <p:cNvSpPr/>
          <p:nvPr/>
        </p:nvSpPr>
        <p:spPr>
          <a:xfrm>
            <a:off x="718456" y="871870"/>
            <a:ext cx="14061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Extracted</a:t>
            </a:r>
          </a:p>
        </p:txBody>
      </p:sp>
    </p:spTree>
    <p:extLst>
      <p:ext uri="{BB962C8B-B14F-4D97-AF65-F5344CB8AC3E}">
        <p14:creationId xmlns:p14="http://schemas.microsoft.com/office/powerpoint/2010/main" val="267435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197516-6A6C-0B63-B6F5-A6EA2E03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9" y="1245108"/>
            <a:ext cx="8238932" cy="39800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3651DD-B306-360D-AD22-9D06CFA9E9B7}"/>
              </a:ext>
            </a:extLst>
          </p:cNvPr>
          <p:cNvSpPr/>
          <p:nvPr/>
        </p:nvSpPr>
        <p:spPr>
          <a:xfrm>
            <a:off x="718456" y="871870"/>
            <a:ext cx="13372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Page</a:t>
            </a:r>
          </a:p>
        </p:txBody>
      </p:sp>
    </p:spTree>
    <p:extLst>
      <p:ext uri="{BB962C8B-B14F-4D97-AF65-F5344CB8AC3E}">
        <p14:creationId xmlns:p14="http://schemas.microsoft.com/office/powerpoint/2010/main" val="367764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180195-5899-89DB-669E-A2177127F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2" y="1243959"/>
            <a:ext cx="8052319" cy="40091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6ED187-F4DC-9AB2-FC0E-C8015FD5E52E}"/>
              </a:ext>
            </a:extLst>
          </p:cNvPr>
          <p:cNvSpPr/>
          <p:nvPr/>
        </p:nvSpPr>
        <p:spPr>
          <a:xfrm>
            <a:off x="718456" y="871870"/>
            <a:ext cx="13564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Interview</a:t>
            </a:r>
          </a:p>
        </p:txBody>
      </p:sp>
    </p:spTree>
    <p:extLst>
      <p:ext uri="{BB962C8B-B14F-4D97-AF65-F5344CB8AC3E}">
        <p14:creationId xmlns:p14="http://schemas.microsoft.com/office/powerpoint/2010/main" val="141389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35E504-5710-9F70-EE76-D3432E040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91881"/>
              </p:ext>
            </p:extLst>
          </p:nvPr>
        </p:nvGraphicFramePr>
        <p:xfrm>
          <a:off x="727788" y="1216706"/>
          <a:ext cx="8337420" cy="50633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9140">
                  <a:extLst>
                    <a:ext uri="{9D8B030D-6E8A-4147-A177-3AD203B41FA5}">
                      <a16:colId xmlns:a16="http://schemas.microsoft.com/office/drawing/2014/main" val="3549808936"/>
                    </a:ext>
                  </a:extLst>
                </a:gridCol>
                <a:gridCol w="2779140">
                  <a:extLst>
                    <a:ext uri="{9D8B030D-6E8A-4147-A177-3AD203B41FA5}">
                      <a16:colId xmlns:a16="http://schemas.microsoft.com/office/drawing/2014/main" val="3949253000"/>
                    </a:ext>
                  </a:extLst>
                </a:gridCol>
                <a:gridCol w="2779140">
                  <a:extLst>
                    <a:ext uri="{9D8B030D-6E8A-4147-A177-3AD203B41FA5}">
                      <a16:colId xmlns:a16="http://schemas.microsoft.com/office/drawing/2014/main" val="729836821"/>
                    </a:ext>
                  </a:extLst>
                </a:gridCol>
              </a:tblGrid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/ 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316997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Candidate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or not fully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Resume-based candidate profiling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51717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rules or direct LLM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TabPFN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policy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122040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/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TabPFN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416323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adaptive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interview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28553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question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Policy-guided Local LLM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11622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response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evaluation using LLM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123839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or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Data-driven policy adaptation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602662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and generation often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decision separated from question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231621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interview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50776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A848475-C9E4-37C4-4A53-DA709FCE48F3}"/>
              </a:ext>
            </a:extLst>
          </p:cNvPr>
          <p:cNvSpPr/>
          <p:nvPr/>
        </p:nvSpPr>
        <p:spPr>
          <a:xfrm>
            <a:off x="2931222" y="704441"/>
            <a:ext cx="3012363" cy="36933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BASELINE COMPARISON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909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5B5AED-16CB-EA44-2145-B6AD45B0E20F}"/>
              </a:ext>
            </a:extLst>
          </p:cNvPr>
          <p:cNvSpPr txBox="1"/>
          <p:nvPr/>
        </p:nvSpPr>
        <p:spPr>
          <a:xfrm>
            <a:off x="715329" y="840970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Qwen LLM performs semantic answer evaluation and adaptive question generation.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STT converts the candidate's spoken response into text for evaluation.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Analysis extracts measurable behavioural features from the candidate's response.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TabPFN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lightweight inference on the 11-dimensional interview feature vector to predict the next interview policy.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processing time depends mainly on LLM inference, speech duration, video processing, and available GPU resources.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36E6BA-E70D-1BC6-11DF-B9FDA796E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72424"/>
              </p:ext>
            </p:extLst>
          </p:nvPr>
        </p:nvGraphicFramePr>
        <p:xfrm>
          <a:off x="715329" y="3825725"/>
          <a:ext cx="8229600" cy="2956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96949724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46368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>
                          <a:latin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1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Synthetic / Custom-created interview dataset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445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Local Qwen LLM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Open-source, local inference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846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Whisper STT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Open-source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TabPFN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Pretrained model / local inference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16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Video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Open-source computer vision libraries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47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Resume 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Local PDF/DOCX 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44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GPU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Depends on local hardware / usage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778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Deployment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be deployed locally without mandatory cloud API costs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9163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D3AFD2-EB8B-4A37-ECD5-AE821DF5F8AE}"/>
              </a:ext>
            </a:extLst>
          </p:cNvPr>
          <p:cNvSpPr txBox="1"/>
          <p:nvPr/>
        </p:nvSpPr>
        <p:spPr>
          <a:xfrm>
            <a:off x="715329" y="3429000"/>
            <a:ext cx="22273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2D329-DDB8-EFF5-4393-2159FC67CCB9}"/>
              </a:ext>
            </a:extLst>
          </p:cNvPr>
          <p:cNvSpPr/>
          <p:nvPr/>
        </p:nvSpPr>
        <p:spPr>
          <a:xfrm>
            <a:off x="2942713" y="171915"/>
            <a:ext cx="3018775" cy="36933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AND COST</a:t>
            </a:r>
          </a:p>
        </p:txBody>
      </p:sp>
    </p:spTree>
    <p:extLst>
      <p:ext uri="{BB962C8B-B14F-4D97-AF65-F5344CB8AC3E}">
        <p14:creationId xmlns:p14="http://schemas.microsoft.com/office/powerpoint/2010/main" val="2392847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21117</TotalTime>
  <Words>948</Words>
  <Application>Microsoft Office PowerPoint</Application>
  <PresentationFormat>On-screen Show (4:3)</PresentationFormat>
  <Paragraphs>166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WORK WITH PLANNED INNOVATION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Ramnath B</cp:lastModifiedBy>
  <cp:revision>282</cp:revision>
  <dcterms:created xsi:type="dcterms:W3CDTF">2005-07-08T09:37:10Z</dcterms:created>
  <dcterms:modified xsi:type="dcterms:W3CDTF">2026-09-08T07:11:54Z</dcterms:modified>
</cp:coreProperties>
</file>